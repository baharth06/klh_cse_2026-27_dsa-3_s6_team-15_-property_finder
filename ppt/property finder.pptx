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 Sans Bold" panose="020B0604020202020204" charset="0"/>
      <p:regular r:id="rId8"/>
    </p:embeddedFont>
    <p:embeddedFont>
      <p:font typeface="League Spartan" panose="020B0604020202020204" charset="0"/>
      <p:regular r:id="rId9"/>
    </p:embeddedFont>
    <p:embeddedFont>
      <p:font typeface="Poppins" panose="00000500000000000000" pitchFamily="2" charset="0"/>
      <p:regular r:id="rId10"/>
      <p:bold r:id="rId11"/>
    </p:embeddedFont>
    <p:embeddedFont>
      <p:font typeface="Poppins Semi-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DF5F70-DDE8-41C3-95BE-3A0614DCDB46}" v="3" dt="2026-08-13T09:31:21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13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3198" y="1953428"/>
            <a:ext cx="16306102" cy="3699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232"/>
              </a:lnSpc>
              <a:spcBef>
                <a:spcPct val="0"/>
              </a:spcBef>
            </a:pPr>
            <a:r>
              <a:rPr lang="en-US" sz="2159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PROPERTY</a:t>
            </a:r>
          </a:p>
        </p:txBody>
      </p:sp>
      <p:sp>
        <p:nvSpPr>
          <p:cNvPr id="3" name="Freeform 3"/>
          <p:cNvSpPr/>
          <p:nvPr/>
        </p:nvSpPr>
        <p:spPr>
          <a:xfrm>
            <a:off x="-375511" y="2938067"/>
            <a:ext cx="1404211" cy="1414498"/>
          </a:xfrm>
          <a:custGeom>
            <a:avLst/>
            <a:gdLst/>
            <a:ahLst/>
            <a:cxnLst/>
            <a:rect l="l" t="t" r="r" b="b"/>
            <a:pathLst>
              <a:path w="1404211" h="1414498">
                <a:moveTo>
                  <a:pt x="0" y="0"/>
                </a:moveTo>
                <a:lnTo>
                  <a:pt x="1404211" y="0"/>
                </a:lnTo>
                <a:lnTo>
                  <a:pt x="1404211" y="1414498"/>
                </a:lnTo>
                <a:lnTo>
                  <a:pt x="0" y="1414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2752197" y="3645316"/>
            <a:ext cx="14142436" cy="8581367"/>
          </a:xfrm>
          <a:custGeom>
            <a:avLst/>
            <a:gdLst/>
            <a:ahLst/>
            <a:cxnLst/>
            <a:rect l="l" t="t" r="r" b="b"/>
            <a:pathLst>
              <a:path w="14142436" h="8581367">
                <a:moveTo>
                  <a:pt x="14142435" y="0"/>
                </a:moveTo>
                <a:lnTo>
                  <a:pt x="0" y="0"/>
                </a:lnTo>
                <a:lnTo>
                  <a:pt x="0" y="8581367"/>
                </a:lnTo>
                <a:lnTo>
                  <a:pt x="14142435" y="8581367"/>
                </a:lnTo>
                <a:lnTo>
                  <a:pt x="14142435" y="0"/>
                </a:lnTo>
                <a:close/>
              </a:path>
            </a:pathLst>
          </a:custGeom>
          <a:blipFill>
            <a:blip r:embed="rId3"/>
            <a:stretch>
              <a:fillRect r="-3062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1811903" y="8135113"/>
            <a:ext cx="6809835" cy="690717"/>
            <a:chOff x="0" y="0"/>
            <a:chExt cx="1793537" cy="1819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93537" cy="181917"/>
            </a:xfrm>
            <a:custGeom>
              <a:avLst/>
              <a:gdLst/>
              <a:ahLst/>
              <a:cxnLst/>
              <a:rect l="l" t="t" r="r" b="b"/>
              <a:pathLst>
                <a:path w="1793537" h="181917">
                  <a:moveTo>
                    <a:pt x="90959" y="0"/>
                  </a:moveTo>
                  <a:lnTo>
                    <a:pt x="1702578" y="0"/>
                  </a:lnTo>
                  <a:cubicBezTo>
                    <a:pt x="1752813" y="0"/>
                    <a:pt x="1793537" y="40724"/>
                    <a:pt x="1793537" y="90959"/>
                  </a:cubicBezTo>
                  <a:lnTo>
                    <a:pt x="1793537" y="90959"/>
                  </a:lnTo>
                  <a:cubicBezTo>
                    <a:pt x="1793537" y="141194"/>
                    <a:pt x="1752813" y="181917"/>
                    <a:pt x="1702578" y="181917"/>
                  </a:cubicBezTo>
                  <a:lnTo>
                    <a:pt x="90959" y="181917"/>
                  </a:lnTo>
                  <a:cubicBezTo>
                    <a:pt x="40724" y="181917"/>
                    <a:pt x="0" y="141194"/>
                    <a:pt x="0" y="90959"/>
                  </a:cubicBezTo>
                  <a:lnTo>
                    <a:pt x="0" y="90959"/>
                  </a:lnTo>
                  <a:cubicBezTo>
                    <a:pt x="0" y="40724"/>
                    <a:pt x="40724" y="0"/>
                    <a:pt x="9095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793537" cy="200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689610" cy="689610"/>
          </a:xfrm>
          <a:custGeom>
            <a:avLst/>
            <a:gdLst/>
            <a:ahLst/>
            <a:cxnLst/>
            <a:rect l="l" t="t" r="r" b="b"/>
            <a:pathLst>
              <a:path w="689610" h="689610">
                <a:moveTo>
                  <a:pt x="0" y="0"/>
                </a:moveTo>
                <a:lnTo>
                  <a:pt x="689610" y="0"/>
                </a:lnTo>
                <a:lnTo>
                  <a:pt x="689610" y="689610"/>
                </a:lnTo>
                <a:lnTo>
                  <a:pt x="0" y="6896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471422" y="-385798"/>
            <a:ext cx="1404211" cy="1414498"/>
          </a:xfrm>
          <a:custGeom>
            <a:avLst/>
            <a:gdLst/>
            <a:ahLst/>
            <a:cxnLst/>
            <a:rect l="l" t="t" r="r" b="b"/>
            <a:pathLst>
              <a:path w="1404211" h="1414498">
                <a:moveTo>
                  <a:pt x="0" y="0"/>
                </a:moveTo>
                <a:lnTo>
                  <a:pt x="1404211" y="0"/>
                </a:lnTo>
                <a:lnTo>
                  <a:pt x="1404211" y="1414498"/>
                </a:lnTo>
                <a:lnTo>
                  <a:pt x="0" y="1414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186331" y="8234727"/>
            <a:ext cx="4460662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6F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- DSA Project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42352" y="5221899"/>
            <a:ext cx="9276307" cy="210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198"/>
              </a:lnSpc>
              <a:spcBef>
                <a:spcPct val="0"/>
              </a:spcBef>
            </a:pPr>
            <a:r>
              <a:rPr lang="en-US" sz="1228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68600" y="7067850"/>
            <a:ext cx="6195108" cy="6484018"/>
            <a:chOff x="0" y="0"/>
            <a:chExt cx="1631634" cy="1707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1634" cy="1707725"/>
            </a:xfrm>
            <a:custGeom>
              <a:avLst/>
              <a:gdLst/>
              <a:ahLst/>
              <a:cxnLst/>
              <a:rect l="l" t="t" r="r" b="b"/>
              <a:pathLst>
                <a:path w="1631634" h="1707725">
                  <a:moveTo>
                    <a:pt x="0" y="0"/>
                  </a:moveTo>
                  <a:lnTo>
                    <a:pt x="1631634" y="0"/>
                  </a:lnTo>
                  <a:lnTo>
                    <a:pt x="1631634" y="1707725"/>
                  </a:lnTo>
                  <a:lnTo>
                    <a:pt x="0" y="1707725"/>
                  </a:lnTo>
                  <a:close/>
                </a:path>
              </a:pathLst>
            </a:custGeom>
            <a:solidFill>
              <a:srgbClr val="FF6F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631634" cy="1726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753600" y="933750"/>
            <a:ext cx="1404211" cy="1414498"/>
          </a:xfrm>
          <a:custGeom>
            <a:avLst/>
            <a:gdLst/>
            <a:ahLst/>
            <a:cxnLst/>
            <a:rect l="l" t="t" r="r" b="b"/>
            <a:pathLst>
              <a:path w="1404211" h="1414498">
                <a:moveTo>
                  <a:pt x="0" y="0"/>
                </a:moveTo>
                <a:lnTo>
                  <a:pt x="1404210" y="0"/>
                </a:lnTo>
                <a:lnTo>
                  <a:pt x="1404210" y="1414498"/>
                </a:lnTo>
                <a:lnTo>
                  <a:pt x="0" y="1414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61154" y="9328675"/>
            <a:ext cx="1404211" cy="1414498"/>
          </a:xfrm>
          <a:custGeom>
            <a:avLst/>
            <a:gdLst/>
            <a:ahLst/>
            <a:cxnLst/>
            <a:rect l="l" t="t" r="r" b="b"/>
            <a:pathLst>
              <a:path w="1404211" h="1414498">
                <a:moveTo>
                  <a:pt x="0" y="0"/>
                </a:moveTo>
                <a:lnTo>
                  <a:pt x="1404211" y="0"/>
                </a:lnTo>
                <a:lnTo>
                  <a:pt x="1404211" y="1414498"/>
                </a:lnTo>
                <a:lnTo>
                  <a:pt x="0" y="1414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56286" y="2348248"/>
            <a:ext cx="13074234" cy="690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44"/>
              </a:lnSpc>
              <a:spcBef>
                <a:spcPct val="0"/>
              </a:spcBef>
            </a:pPr>
            <a:r>
              <a:rPr lang="en-IN" sz="3600" dirty="0"/>
              <a:t>The </a:t>
            </a:r>
            <a:r>
              <a:rPr lang="en-IN" sz="3600" b="1" dirty="0"/>
              <a:t>Property Finder System</a:t>
            </a:r>
            <a:r>
              <a:rPr lang="en-IN" sz="3600" dirty="0"/>
              <a:t> is a Java-based application that helps users efficiently search and filter properties based on </a:t>
            </a:r>
            <a:r>
              <a:rPr lang="en-IN" sz="3600" b="1" dirty="0"/>
              <a:t>location, budget, property type, bedrooms, and amenities</a:t>
            </a:r>
            <a:r>
              <a:rPr lang="en-IN" sz="3600" dirty="0"/>
              <a:t>. It uses advanced Data Structures and Algorithms to improve searching, filtering, ranking, and property recommendations.</a:t>
            </a:r>
          </a:p>
          <a:p>
            <a:pPr>
              <a:lnSpc>
                <a:spcPts val="4544"/>
              </a:lnSpc>
              <a:spcBef>
                <a:spcPct val="0"/>
              </a:spcBef>
            </a:pPr>
            <a:endParaRPr lang="en-IN" sz="3600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>
              <a:lnSpc>
                <a:spcPts val="4544"/>
              </a:lnSpc>
              <a:spcBef>
                <a:spcPct val="0"/>
              </a:spcBef>
            </a:pPr>
            <a:r>
              <a:rPr lang="en-IN" sz="3600" b="1" dirty="0"/>
              <a:t>String matching algorithms</a:t>
            </a:r>
            <a:r>
              <a:rPr lang="en-IN" sz="3600" dirty="0"/>
              <a:t> provide fast location searches, while </a:t>
            </a:r>
            <a:r>
              <a:rPr lang="en-IN" sz="3600" b="1" dirty="0"/>
              <a:t>graph algorithms</a:t>
            </a:r>
            <a:r>
              <a:rPr lang="en-IN" sz="3600" dirty="0"/>
              <a:t> help identify nearby facilities. </a:t>
            </a:r>
            <a:r>
              <a:rPr lang="en-IN" sz="3600" b="1" dirty="0"/>
              <a:t>Dynamic programming</a:t>
            </a:r>
            <a:r>
              <a:rPr lang="en-IN" sz="3600" dirty="0"/>
              <a:t> is used for optimized property selection, and </a:t>
            </a:r>
            <a:r>
              <a:rPr lang="en-IN" sz="3600" b="1" dirty="0"/>
              <a:t>randomized algorithms</a:t>
            </a:r>
            <a:r>
              <a:rPr lang="en-IN" sz="3600" dirty="0"/>
              <a:t> improve recommendation performance. The project demonstrates how advanced DSA concepts can solve real-world property search problems.</a:t>
            </a:r>
            <a:endParaRPr lang="en-US" sz="3245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1028700"/>
            <a:ext cx="689610" cy="689610"/>
          </a:xfrm>
          <a:custGeom>
            <a:avLst/>
            <a:gdLst/>
            <a:ahLst/>
            <a:cxnLst/>
            <a:rect l="l" t="t" r="r" b="b"/>
            <a:pathLst>
              <a:path w="689610" h="689610">
                <a:moveTo>
                  <a:pt x="0" y="0"/>
                </a:moveTo>
                <a:lnTo>
                  <a:pt x="689610" y="0"/>
                </a:lnTo>
                <a:lnTo>
                  <a:pt x="689610" y="689610"/>
                </a:lnTo>
                <a:lnTo>
                  <a:pt x="0" y="6896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017248" y="549243"/>
            <a:ext cx="4428196" cy="2669908"/>
          </a:xfrm>
          <a:custGeom>
            <a:avLst/>
            <a:gdLst/>
            <a:ahLst/>
            <a:cxnLst/>
            <a:rect l="l" t="t" r="r" b="b"/>
            <a:pathLst>
              <a:path w="4428196" h="2669908">
                <a:moveTo>
                  <a:pt x="0" y="0"/>
                </a:moveTo>
                <a:lnTo>
                  <a:pt x="4428196" y="0"/>
                </a:lnTo>
                <a:lnTo>
                  <a:pt x="4428196" y="2669908"/>
                </a:lnTo>
                <a:lnTo>
                  <a:pt x="0" y="2669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66050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389847" y="634522"/>
            <a:ext cx="6277958" cy="97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1"/>
              </a:lnSpc>
              <a:spcBef>
                <a:spcPct val="0"/>
              </a:spcBef>
            </a:pPr>
            <a:r>
              <a:rPr lang="en-US" sz="564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5511" y="-385798"/>
            <a:ext cx="1404211" cy="1414498"/>
          </a:xfrm>
          <a:custGeom>
            <a:avLst/>
            <a:gdLst/>
            <a:ahLst/>
            <a:cxnLst/>
            <a:rect l="l" t="t" r="r" b="b"/>
            <a:pathLst>
              <a:path w="1404211" h="1414498">
                <a:moveTo>
                  <a:pt x="0" y="0"/>
                </a:moveTo>
                <a:lnTo>
                  <a:pt x="1404211" y="0"/>
                </a:lnTo>
                <a:lnTo>
                  <a:pt x="1404211" y="1414498"/>
                </a:lnTo>
                <a:lnTo>
                  <a:pt x="0" y="1414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499324" y="9097682"/>
            <a:ext cx="1404211" cy="1414498"/>
          </a:xfrm>
          <a:custGeom>
            <a:avLst/>
            <a:gdLst/>
            <a:ahLst/>
            <a:cxnLst/>
            <a:rect l="l" t="t" r="r" b="b"/>
            <a:pathLst>
              <a:path w="1404211" h="1414498">
                <a:moveTo>
                  <a:pt x="0" y="0"/>
                </a:moveTo>
                <a:lnTo>
                  <a:pt x="1404211" y="0"/>
                </a:lnTo>
                <a:lnTo>
                  <a:pt x="1404211" y="1414498"/>
                </a:lnTo>
                <a:lnTo>
                  <a:pt x="0" y="1414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338181" y="831083"/>
            <a:ext cx="8948518" cy="98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77"/>
              </a:lnSpc>
              <a:spcBef>
                <a:spcPct val="0"/>
              </a:spcBef>
            </a:pPr>
            <a:r>
              <a:rPr lang="en-US" sz="5769">
                <a:solidFill>
                  <a:srgbClr val="FF6F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1028700"/>
            <a:ext cx="689610" cy="689610"/>
          </a:xfrm>
          <a:custGeom>
            <a:avLst/>
            <a:gdLst/>
            <a:ahLst/>
            <a:cxnLst/>
            <a:rect l="l" t="t" r="r" b="b"/>
            <a:pathLst>
              <a:path w="689610" h="689610">
                <a:moveTo>
                  <a:pt x="0" y="0"/>
                </a:moveTo>
                <a:lnTo>
                  <a:pt x="689610" y="0"/>
                </a:lnTo>
                <a:lnTo>
                  <a:pt x="689610" y="689610"/>
                </a:lnTo>
                <a:lnTo>
                  <a:pt x="0" y="6896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969582" y="2943204"/>
            <a:ext cx="15318418" cy="6647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dirty="0"/>
              <a:t>Real estate websites contain </a:t>
            </a:r>
            <a:r>
              <a:rPr lang="en-IN" sz="3600" b="1" dirty="0"/>
              <a:t>thousands of property listings</a:t>
            </a:r>
            <a:r>
              <a:rPr lang="en-IN" sz="3600" dirty="0"/>
              <a:t>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dirty="0"/>
              <a:t>It is difficult for users to </a:t>
            </a:r>
            <a:r>
              <a:rPr lang="en-IN" sz="3600" b="1" dirty="0"/>
              <a:t>quickly find properties</a:t>
            </a:r>
            <a:r>
              <a:rPr lang="en-IN" sz="3600" dirty="0"/>
              <a:t> that match their preferences.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dirty="0"/>
              <a:t>Traditional searching methods become </a:t>
            </a:r>
            <a:r>
              <a:rPr lang="en-IN" sz="3600" b="1" dirty="0"/>
              <a:t>slower as the number of properties increases</a:t>
            </a:r>
            <a:r>
              <a:rPr lang="en-IN" sz="3600" dirty="0"/>
              <a:t>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dirty="0"/>
              <a:t>Traditional methods often fail to provide </a:t>
            </a:r>
            <a:r>
              <a:rPr lang="en-IN" sz="3600" b="1" dirty="0"/>
              <a:t>optimized recommendations</a:t>
            </a:r>
            <a:r>
              <a:rPr lang="en-IN" sz="3600" dirty="0"/>
              <a:t>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dirty="0"/>
              <a:t>An efficient </a:t>
            </a:r>
            <a:r>
              <a:rPr lang="en-IN" sz="3600" b="1" dirty="0"/>
              <a:t>Property Finder System</a:t>
            </a:r>
            <a:r>
              <a:rPr lang="en-IN" sz="3600" dirty="0"/>
              <a:t> is required.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dirty="0"/>
              <a:t>The system should use </a:t>
            </a:r>
            <a:r>
              <a:rPr lang="en-IN" sz="3600" b="1" dirty="0"/>
              <a:t>advanced Data Structures and Algorithms</a:t>
            </a:r>
            <a:r>
              <a:rPr lang="en-IN" sz="3600" dirty="0"/>
              <a:t>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dirty="0"/>
              <a:t>It should provide: 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IN" sz="3600" b="1" dirty="0"/>
              <a:t>Fast searching</a:t>
            </a:r>
            <a:r>
              <a:rPr lang="en-IN" sz="3600" dirty="0"/>
              <a:t> 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IN" sz="3600" b="1" dirty="0"/>
              <a:t>Intelligent filtering</a:t>
            </a:r>
            <a:r>
              <a:rPr lang="en-IN" sz="3600" dirty="0"/>
              <a:t> 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IN" sz="3600" b="1" dirty="0"/>
              <a:t>Optimized recommendations</a:t>
            </a:r>
            <a:r>
              <a:rPr lang="en-IN" sz="3600" dirty="0"/>
              <a:t> 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IN" sz="3600" b="1" dirty="0"/>
              <a:t>Efficient data management</a:t>
            </a:r>
            <a:endParaRPr lang="en-IN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9632" y="9437177"/>
            <a:ext cx="1404211" cy="1414498"/>
          </a:xfrm>
          <a:custGeom>
            <a:avLst/>
            <a:gdLst/>
            <a:ahLst/>
            <a:cxnLst/>
            <a:rect l="l" t="t" r="r" b="b"/>
            <a:pathLst>
              <a:path w="1404211" h="1414498">
                <a:moveTo>
                  <a:pt x="0" y="0"/>
                </a:moveTo>
                <a:lnTo>
                  <a:pt x="1404210" y="0"/>
                </a:lnTo>
                <a:lnTo>
                  <a:pt x="1404210" y="1414498"/>
                </a:lnTo>
                <a:lnTo>
                  <a:pt x="0" y="1414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028700"/>
            <a:ext cx="689610" cy="689610"/>
          </a:xfrm>
          <a:custGeom>
            <a:avLst/>
            <a:gdLst/>
            <a:ahLst/>
            <a:cxnLst/>
            <a:rect l="l" t="t" r="r" b="b"/>
            <a:pathLst>
              <a:path w="689610" h="689610">
                <a:moveTo>
                  <a:pt x="0" y="0"/>
                </a:moveTo>
                <a:lnTo>
                  <a:pt x="689610" y="0"/>
                </a:lnTo>
                <a:lnTo>
                  <a:pt x="689610" y="689610"/>
                </a:lnTo>
                <a:lnTo>
                  <a:pt x="0" y="6896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982879" y="1680782"/>
            <a:ext cx="13142042" cy="8252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6958" lvl="1" indent="-293479" algn="l">
              <a:lnSpc>
                <a:spcPts val="3806"/>
              </a:lnSpc>
              <a:buFont typeface="Arial"/>
              <a:buChar char="•"/>
            </a:pPr>
            <a:r>
              <a:rPr lang="en-US" sz="271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Add, Update, and Delete Property Listings</a:t>
            </a:r>
          </a:p>
          <a:p>
            <a:pPr marL="586958" lvl="1" indent="-293479" algn="l">
              <a:lnSpc>
                <a:spcPts val="3806"/>
              </a:lnSpc>
              <a:buFont typeface="Arial"/>
              <a:buChar char="•"/>
            </a:pPr>
            <a:r>
              <a:rPr lang="en-US" sz="271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Search Property by:</a:t>
            </a:r>
          </a:p>
          <a:p>
            <a:pPr marL="586958" lvl="1" indent="-293479" algn="l">
              <a:lnSpc>
                <a:spcPts val="3806"/>
              </a:lnSpc>
              <a:buFont typeface="Arial"/>
              <a:buChar char="•"/>
            </a:pPr>
            <a:r>
              <a:rPr lang="en-US" sz="271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Location</a:t>
            </a:r>
          </a:p>
          <a:p>
            <a:pPr marL="586958" lvl="1" indent="-293479" algn="l">
              <a:lnSpc>
                <a:spcPts val="3806"/>
              </a:lnSpc>
              <a:buFont typeface="Arial"/>
              <a:buChar char="•"/>
            </a:pPr>
            <a:r>
              <a:rPr lang="en-US" sz="271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Budget</a:t>
            </a:r>
          </a:p>
          <a:p>
            <a:pPr marL="586958" lvl="1" indent="-293479" algn="l">
              <a:lnSpc>
                <a:spcPts val="3806"/>
              </a:lnSpc>
              <a:buFont typeface="Arial"/>
              <a:buChar char="•"/>
            </a:pPr>
            <a:r>
              <a:rPr lang="en-US" sz="271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Property Type</a:t>
            </a:r>
          </a:p>
          <a:p>
            <a:pPr marL="586958" lvl="1" indent="-293479" algn="l">
              <a:lnSpc>
                <a:spcPts val="3806"/>
              </a:lnSpc>
              <a:buFont typeface="Arial"/>
              <a:buChar char="•"/>
            </a:pPr>
            <a:r>
              <a:rPr lang="en-US" sz="271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Bedrooms</a:t>
            </a:r>
          </a:p>
          <a:p>
            <a:pPr marL="586958" lvl="1" indent="-293479" algn="l">
              <a:lnSpc>
                <a:spcPts val="3806"/>
              </a:lnSpc>
              <a:buFont typeface="Arial"/>
              <a:buChar char="•"/>
            </a:pPr>
            <a:r>
              <a:rPr lang="en-US" sz="271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Amenities</a:t>
            </a:r>
          </a:p>
          <a:p>
            <a:pPr marL="586958" lvl="1" indent="-293479" algn="l">
              <a:lnSpc>
                <a:spcPts val="3806"/>
              </a:lnSpc>
              <a:buFont typeface="Arial"/>
              <a:buChar char="•"/>
            </a:pPr>
            <a:r>
              <a:rPr lang="en-US" sz="271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Advanced String Search (KMP/Z Algorithm)</a:t>
            </a:r>
          </a:p>
          <a:p>
            <a:pPr marL="586958" lvl="1" indent="-293479" algn="l">
              <a:lnSpc>
                <a:spcPts val="3806"/>
              </a:lnSpc>
              <a:buFont typeface="Arial"/>
              <a:buChar char="•"/>
            </a:pPr>
            <a:r>
              <a:rPr lang="en-US" sz="271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Sort Properties by Price, Rating, or Distance</a:t>
            </a:r>
          </a:p>
          <a:p>
            <a:pPr marL="586958" lvl="1" indent="-293479" algn="l">
              <a:lnSpc>
                <a:spcPts val="3806"/>
              </a:lnSpc>
              <a:buFont typeface="Arial"/>
              <a:buChar char="•"/>
            </a:pPr>
            <a:r>
              <a:rPr lang="en-US" sz="271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Filter Multiple Criteria</a:t>
            </a:r>
          </a:p>
          <a:p>
            <a:pPr marL="586958" lvl="1" indent="-293479" algn="l">
              <a:lnSpc>
                <a:spcPts val="3806"/>
              </a:lnSpc>
              <a:buFont typeface="Arial"/>
              <a:buChar char="•"/>
            </a:pPr>
            <a:r>
              <a:rPr lang="en-US" sz="271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Property Recommendation System</a:t>
            </a:r>
          </a:p>
          <a:p>
            <a:pPr marL="586958" lvl="1" indent="-293479" algn="l">
              <a:lnSpc>
                <a:spcPts val="3806"/>
              </a:lnSpc>
              <a:buFont typeface="Arial"/>
              <a:buChar char="•"/>
            </a:pPr>
            <a:r>
              <a:rPr lang="en-US" sz="271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Save Favorite Properties</a:t>
            </a:r>
          </a:p>
          <a:p>
            <a:pPr marL="586958" lvl="1" indent="-293479" algn="l">
              <a:lnSpc>
                <a:spcPts val="3806"/>
              </a:lnSpc>
              <a:buFont typeface="Arial"/>
              <a:buChar char="•"/>
            </a:pPr>
            <a:r>
              <a:rPr lang="en-US" sz="271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Compare Multiple Properties</a:t>
            </a:r>
          </a:p>
          <a:p>
            <a:pPr marL="586958" lvl="1" indent="-293479" algn="l">
              <a:lnSpc>
                <a:spcPts val="3806"/>
              </a:lnSpc>
              <a:buFont typeface="Arial"/>
              <a:buChar char="•"/>
            </a:pPr>
            <a:r>
              <a:rPr lang="en-US" sz="271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Display Nearby Schools, Hospitals, and Transport (using Graph Algorithms)</a:t>
            </a:r>
          </a:p>
          <a:p>
            <a:pPr marL="586958" lvl="1" indent="-293479" algn="l">
              <a:lnSpc>
                <a:spcPts val="3806"/>
              </a:lnSpc>
              <a:buFont typeface="Arial"/>
              <a:buChar char="•"/>
            </a:pPr>
            <a:r>
              <a:rPr lang="en-US" sz="271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Admin Panel for Property Management</a:t>
            </a:r>
          </a:p>
          <a:p>
            <a:pPr algn="l">
              <a:lnSpc>
                <a:spcPts val="3806"/>
              </a:lnSpc>
            </a:pPr>
            <a:endParaRPr lang="en-US" sz="2718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3326645" y="240972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191000" y="706755"/>
            <a:ext cx="928647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FF6F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PROPOSED FUNCTIONALITIES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8526" y="806283"/>
            <a:ext cx="8893974" cy="521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1"/>
              </a:lnSpc>
              <a:spcBef>
                <a:spcPct val="0"/>
              </a:spcBef>
            </a:pPr>
            <a:r>
              <a:rPr lang="en-US" sz="305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TOOLS AND TECHNOLOGIES TO BE USED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0801" y="904875"/>
            <a:ext cx="9409423" cy="3960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8"/>
              </a:lnSpc>
            </a:pPr>
            <a:endParaRPr dirty="0"/>
          </a:p>
          <a:p>
            <a:pPr marL="510091" lvl="1" indent="-255045" algn="l">
              <a:lnSpc>
                <a:spcPts val="3898"/>
              </a:lnSpc>
              <a:buFont typeface="Arial"/>
              <a:buChar char="•"/>
            </a:pPr>
            <a:r>
              <a:rPr lang="en-US" sz="2362" spc="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Programming Language: Java</a:t>
            </a:r>
          </a:p>
          <a:p>
            <a:pPr marL="510091" lvl="1" indent="-255045" algn="l">
              <a:lnSpc>
                <a:spcPts val="3898"/>
              </a:lnSpc>
              <a:buFont typeface="Arial"/>
              <a:buChar char="•"/>
            </a:pPr>
            <a:r>
              <a:rPr lang="en-US" sz="2362" spc="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GUI: Java Swing (or JavaFX)</a:t>
            </a:r>
          </a:p>
          <a:p>
            <a:pPr marL="510091" lvl="1" indent="-255045" algn="l">
              <a:lnSpc>
                <a:spcPts val="3898"/>
              </a:lnSpc>
              <a:buFont typeface="Arial"/>
              <a:buChar char="•"/>
            </a:pPr>
            <a:r>
              <a:rPr lang="en-US" sz="2362" spc="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Database :File handling</a:t>
            </a:r>
          </a:p>
          <a:p>
            <a:pPr marL="510091" lvl="1" indent="-255045" algn="l">
              <a:lnSpc>
                <a:spcPts val="3898"/>
              </a:lnSpc>
              <a:buFont typeface="Arial"/>
              <a:buChar char="•"/>
            </a:pPr>
            <a:r>
              <a:rPr lang="en-US" sz="2362" spc="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Structures: </a:t>
            </a:r>
            <a:r>
              <a:rPr lang="en-US" sz="2362" spc="7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ArrayList</a:t>
            </a:r>
            <a:r>
              <a:rPr lang="en-US" sz="2362" spc="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HashMap, Graph</a:t>
            </a:r>
          </a:p>
          <a:p>
            <a:pPr marL="510091" lvl="1" indent="-255045" algn="l">
              <a:lnSpc>
                <a:spcPts val="3898"/>
              </a:lnSpc>
              <a:buFont typeface="Arial"/>
              <a:buChar char="•"/>
            </a:pPr>
            <a:r>
              <a:rPr lang="en-US" sz="2362" spc="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Algorithms: KMP String Matching, Dynamic Programming, Graph Algorithms, Hashing</a:t>
            </a:r>
          </a:p>
          <a:p>
            <a:pPr algn="l">
              <a:lnSpc>
                <a:spcPts val="3898"/>
              </a:lnSpc>
            </a:pPr>
            <a:endParaRPr lang="en-US" sz="2362" spc="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7259300" y="8872502"/>
            <a:ext cx="1404211" cy="1414498"/>
          </a:xfrm>
          <a:custGeom>
            <a:avLst/>
            <a:gdLst/>
            <a:ahLst/>
            <a:cxnLst/>
            <a:rect l="l" t="t" r="r" b="b"/>
            <a:pathLst>
              <a:path w="1404211" h="1414498">
                <a:moveTo>
                  <a:pt x="0" y="0"/>
                </a:moveTo>
                <a:lnTo>
                  <a:pt x="1404211" y="0"/>
                </a:lnTo>
                <a:lnTo>
                  <a:pt x="1404211" y="1414498"/>
                </a:lnTo>
                <a:lnTo>
                  <a:pt x="0" y="1414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919166" y="-319081"/>
            <a:ext cx="1404211" cy="1414498"/>
          </a:xfrm>
          <a:custGeom>
            <a:avLst/>
            <a:gdLst/>
            <a:ahLst/>
            <a:cxnLst/>
            <a:rect l="l" t="t" r="r" b="b"/>
            <a:pathLst>
              <a:path w="1404211" h="1414498">
                <a:moveTo>
                  <a:pt x="0" y="0"/>
                </a:moveTo>
                <a:lnTo>
                  <a:pt x="1404211" y="0"/>
                </a:lnTo>
                <a:lnTo>
                  <a:pt x="1404211" y="1414498"/>
                </a:lnTo>
                <a:lnTo>
                  <a:pt x="0" y="1414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477929" y="38816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322226" y="6025252"/>
            <a:ext cx="5048834" cy="4114800"/>
          </a:xfrm>
          <a:custGeom>
            <a:avLst/>
            <a:gdLst/>
            <a:ahLst/>
            <a:cxnLst/>
            <a:rect l="l" t="t" r="r" b="b"/>
            <a:pathLst>
              <a:path w="5048834" h="4114800">
                <a:moveTo>
                  <a:pt x="0" y="0"/>
                </a:moveTo>
                <a:lnTo>
                  <a:pt x="5048834" y="0"/>
                </a:lnTo>
                <a:lnTo>
                  <a:pt x="50488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6250" y="5535052"/>
            <a:ext cx="8893974" cy="521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1"/>
              </a:lnSpc>
              <a:spcBef>
                <a:spcPct val="0"/>
              </a:spcBef>
            </a:pPr>
            <a:r>
              <a:rPr lang="en-US" sz="3058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EXPECTED OUTCOME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3400" y="6299399"/>
            <a:ext cx="9409423" cy="394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0091" lvl="1" indent="-255045" algn="l">
              <a:lnSpc>
                <a:spcPts val="3898"/>
              </a:lnSpc>
              <a:buFont typeface="Arial"/>
              <a:buChar char="•"/>
            </a:pPr>
            <a:r>
              <a:rPr lang="en-US" sz="2362" spc="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 and efficient property search.</a:t>
            </a:r>
          </a:p>
          <a:p>
            <a:pPr marL="510091" lvl="1" indent="-255045" algn="l">
              <a:lnSpc>
                <a:spcPts val="3898"/>
              </a:lnSpc>
              <a:buFont typeface="Arial"/>
              <a:buChar char="•"/>
            </a:pPr>
            <a:r>
              <a:rPr lang="en-US" sz="2362" spc="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Accurate property recommendations based on user preferences.</a:t>
            </a:r>
          </a:p>
          <a:p>
            <a:pPr marL="510091" lvl="1" indent="-255045" algn="l">
              <a:lnSpc>
                <a:spcPts val="3898"/>
              </a:lnSpc>
              <a:buFont typeface="Arial"/>
              <a:buChar char="•"/>
            </a:pPr>
            <a:r>
              <a:rPr lang="en-US" sz="2362" spc="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Easy filtering and sorting of property listings.</a:t>
            </a:r>
          </a:p>
          <a:p>
            <a:pPr marL="510091" lvl="1" indent="-255045" algn="l">
              <a:lnSpc>
                <a:spcPts val="3898"/>
              </a:lnSpc>
              <a:buFont typeface="Arial"/>
              <a:buChar char="•"/>
            </a:pPr>
            <a:r>
              <a:rPr lang="en-US" sz="2362" spc="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Improved user experience with optimized DSA algorithms.</a:t>
            </a:r>
          </a:p>
          <a:p>
            <a:pPr marL="510091" lvl="1" indent="-255045" algn="l">
              <a:lnSpc>
                <a:spcPts val="3898"/>
              </a:lnSpc>
              <a:buFont typeface="Arial"/>
              <a:buChar char="•"/>
            </a:pPr>
            <a:r>
              <a:rPr lang="en-US" sz="2362" spc="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Practical implementation of Advanced Data Structures and Algorithms in Java.</a:t>
            </a:r>
          </a:p>
          <a:p>
            <a:pPr algn="l">
              <a:lnSpc>
                <a:spcPts val="3898"/>
              </a:lnSpc>
            </a:pPr>
            <a:endParaRPr lang="en-US" sz="2362" spc="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1935348"/>
            <a:ext cx="1404211" cy="1414498"/>
          </a:xfrm>
          <a:custGeom>
            <a:avLst/>
            <a:gdLst/>
            <a:ahLst/>
            <a:cxnLst/>
            <a:rect l="l" t="t" r="r" b="b"/>
            <a:pathLst>
              <a:path w="1404211" h="1414498">
                <a:moveTo>
                  <a:pt x="0" y="0"/>
                </a:moveTo>
                <a:lnTo>
                  <a:pt x="1404211" y="0"/>
                </a:lnTo>
                <a:lnTo>
                  <a:pt x="1404211" y="1414499"/>
                </a:lnTo>
                <a:lnTo>
                  <a:pt x="0" y="14144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52488" y="5946221"/>
            <a:ext cx="1404211" cy="1414498"/>
          </a:xfrm>
          <a:custGeom>
            <a:avLst/>
            <a:gdLst/>
            <a:ahLst/>
            <a:cxnLst/>
            <a:rect l="l" t="t" r="r" b="b"/>
            <a:pathLst>
              <a:path w="1404211" h="1414498">
                <a:moveTo>
                  <a:pt x="0" y="0"/>
                </a:moveTo>
                <a:lnTo>
                  <a:pt x="1404210" y="0"/>
                </a:lnTo>
                <a:lnTo>
                  <a:pt x="1404210" y="1414498"/>
                </a:lnTo>
                <a:lnTo>
                  <a:pt x="0" y="1414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531398" y="6477429"/>
            <a:ext cx="2612898" cy="4114800"/>
          </a:xfrm>
          <a:custGeom>
            <a:avLst/>
            <a:gdLst/>
            <a:ahLst/>
            <a:cxnLst/>
            <a:rect l="l" t="t" r="r" b="b"/>
            <a:pathLst>
              <a:path w="2612898" h="4114800">
                <a:moveTo>
                  <a:pt x="0" y="0"/>
                </a:moveTo>
                <a:lnTo>
                  <a:pt x="2612898" y="0"/>
                </a:lnTo>
                <a:lnTo>
                  <a:pt x="26128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916546"/>
            <a:ext cx="15618293" cy="3226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47"/>
              </a:lnSpc>
              <a:spcBef>
                <a:spcPct val="0"/>
              </a:spcBef>
            </a:pPr>
            <a:r>
              <a:rPr lang="en-US" sz="1881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334</Words>
  <Application>Microsoft Office PowerPoint</Application>
  <PresentationFormat>Custom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Canva Sans Bold</vt:lpstr>
      <vt:lpstr>Poppins</vt:lpstr>
      <vt:lpstr>League Spartan</vt:lpstr>
      <vt:lpstr>Poppins Semi-Bold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FINDER</dc:title>
  <dc:creator>Bharath</dc:creator>
  <cp:lastModifiedBy>Vadakattu bharath kumar</cp:lastModifiedBy>
  <cp:revision>3</cp:revision>
  <dcterms:created xsi:type="dcterms:W3CDTF">2006-08-16T00:00:00Z</dcterms:created>
  <dcterms:modified xsi:type="dcterms:W3CDTF">2026-08-13T10:13:32Z</dcterms:modified>
  <dc:identifier>DAHRAopY4Fw</dc:identifier>
</cp:coreProperties>
</file>